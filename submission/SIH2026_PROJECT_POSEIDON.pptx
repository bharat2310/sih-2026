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10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ti.com/lit/pdf/sloa024" TargetMode="External" Type="http://schemas.openxmlformats.org/officeDocument/2006/relationships/hyperlink"/><Relationship Id="rId11" Target="https://www.ti.com/lit/pdf/sloa024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https://www.mdpi.com/1424-8220/12/6/6837" TargetMode="External" Type="http://schemas.openxmlformats.org/officeDocument/2006/relationships/hyperlink"/><Relationship Id="rId9" Target="https://jmstt.ntou.edu.tw/journal/vol12/iss3/3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1980" y="1903092"/>
            <a:ext cx="7346020" cy="8163769"/>
          </a:xfrm>
          <a:custGeom>
            <a:avLst/>
            <a:gdLst/>
            <a:ahLst/>
            <a:cxnLst/>
            <a:rect r="r" b="b" t="t" l="l"/>
            <a:pathLst>
              <a:path h="8163769" w="7346020">
                <a:moveTo>
                  <a:pt x="0" y="0"/>
                </a:moveTo>
                <a:lnTo>
                  <a:pt x="7346020" y="0"/>
                </a:lnTo>
                <a:lnTo>
                  <a:pt x="7346020" y="8163769"/>
                </a:lnTo>
                <a:lnTo>
                  <a:pt x="0" y="816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67847" y="4124924"/>
            <a:ext cx="3991453" cy="4268962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81227" y="-32403"/>
            <a:ext cx="15544800" cy="1805383"/>
            <a:chOff x="0" y="0"/>
            <a:chExt cx="20726400" cy="24071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2407177"/>
            </a:xfrm>
            <a:custGeom>
              <a:avLst/>
              <a:gdLst/>
              <a:ahLst/>
              <a:cxnLst/>
              <a:rect r="r" b="b" t="t" l="l"/>
              <a:pathLst>
                <a:path h="240717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07177"/>
                  </a:lnTo>
                  <a:lnTo>
                    <a:pt x="0" y="24071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10" r="0" b="-15403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726400" cy="2416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19"/>
                </a:lnSpc>
              </a:pPr>
              <a:r>
                <a:rPr lang="en-US" sz="6099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1006681"/>
            <a:ext cx="12665561" cy="906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26058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of a Low-Power, Real-Time Adaptive Software-Defined Sonar Transmitter Payload for Autonomous Underwater Vehicles (AUVs)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Robotics and Drones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Poseidon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614990" y="237876"/>
            <a:ext cx="3101376" cy="1535103"/>
          </a:xfrm>
          <a:custGeom>
            <a:avLst/>
            <a:gdLst/>
            <a:ahLst/>
            <a:cxnLst/>
            <a:rect r="r" b="b" t="t" l="l"/>
            <a:pathLst>
              <a:path h="1535103" w="3101376">
                <a:moveTo>
                  <a:pt x="0" y="0"/>
                </a:moveTo>
                <a:lnTo>
                  <a:pt x="3101376" y="0"/>
                </a:lnTo>
                <a:lnTo>
                  <a:pt x="3101376" y="1535104"/>
                </a:lnTo>
                <a:lnTo>
                  <a:pt x="0" y="1535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5218" y="-880888"/>
            <a:ext cx="8991416" cy="2658300"/>
            <a:chOff x="0" y="0"/>
            <a:chExt cx="11988555" cy="354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88555" cy="3544400"/>
            </a:xfrm>
            <a:custGeom>
              <a:avLst/>
              <a:gdLst/>
              <a:ahLst/>
              <a:cxnLst/>
              <a:rect r="r" b="b" t="t" l="l"/>
              <a:pathLst>
                <a:path h="3544400" w="11988555">
                  <a:moveTo>
                    <a:pt x="0" y="0"/>
                  </a:moveTo>
                  <a:lnTo>
                    <a:pt x="11988555" y="0"/>
                  </a:lnTo>
                  <a:lnTo>
                    <a:pt x="11988555" y="3544400"/>
                  </a:lnTo>
                  <a:lnTo>
                    <a:pt x="0" y="354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96" r="-83054" b="-528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988555" cy="356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Adaptive Software-Defined Sonar Transmitter for AUVs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roject Poseidon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044096" y="-14216"/>
            <a:ext cx="0" cy="95893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-8146" y="5095301"/>
            <a:ext cx="5668619" cy="611431"/>
            <a:chOff x="0" y="0"/>
            <a:chExt cx="1492970" cy="1610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2970" cy="161035"/>
            </a:xfrm>
            <a:custGeom>
              <a:avLst/>
              <a:gdLst/>
              <a:ahLst/>
              <a:cxnLst/>
              <a:rect r="r" b="b" t="t" l="l"/>
              <a:pathLst>
                <a:path h="161035" w="1492970">
                  <a:moveTo>
                    <a:pt x="39607" y="0"/>
                  </a:moveTo>
                  <a:lnTo>
                    <a:pt x="1453363" y="0"/>
                  </a:lnTo>
                  <a:cubicBezTo>
                    <a:pt x="1475237" y="0"/>
                    <a:pt x="1492970" y="17733"/>
                    <a:pt x="1492970" y="39607"/>
                  </a:cubicBezTo>
                  <a:lnTo>
                    <a:pt x="1492970" y="121428"/>
                  </a:lnTo>
                  <a:cubicBezTo>
                    <a:pt x="1492970" y="143303"/>
                    <a:pt x="1475237" y="161035"/>
                    <a:pt x="1453363" y="161035"/>
                  </a:cubicBezTo>
                  <a:lnTo>
                    <a:pt x="39607" y="161035"/>
                  </a:lnTo>
                  <a:cubicBezTo>
                    <a:pt x="17733" y="161035"/>
                    <a:pt x="0" y="143303"/>
                    <a:pt x="0" y="121428"/>
                  </a:cubicBezTo>
                  <a:lnTo>
                    <a:pt x="0" y="39607"/>
                  </a:lnTo>
                  <a:cubicBezTo>
                    <a:pt x="0" y="17733"/>
                    <a:pt x="17733" y="0"/>
                    <a:pt x="39607" y="0"/>
                  </a:cubicBezTo>
                  <a:close/>
                </a:path>
              </a:pathLst>
            </a:custGeom>
            <a:solidFill>
              <a:srgbClr val="4A7EBB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92970" cy="18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8146" y="1777412"/>
            <a:ext cx="4463443" cy="611431"/>
            <a:chOff x="0" y="0"/>
            <a:chExt cx="1175557" cy="1610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5557" cy="161035"/>
            </a:xfrm>
            <a:custGeom>
              <a:avLst/>
              <a:gdLst/>
              <a:ahLst/>
              <a:cxnLst/>
              <a:rect r="r" b="b" t="t" l="l"/>
              <a:pathLst>
                <a:path h="161035" w="1175557">
                  <a:moveTo>
                    <a:pt x="50301" y="0"/>
                  </a:moveTo>
                  <a:lnTo>
                    <a:pt x="1125256" y="0"/>
                  </a:lnTo>
                  <a:cubicBezTo>
                    <a:pt x="1138597" y="0"/>
                    <a:pt x="1151391" y="5300"/>
                    <a:pt x="1160824" y="14733"/>
                  </a:cubicBezTo>
                  <a:cubicBezTo>
                    <a:pt x="1170258" y="24166"/>
                    <a:pt x="1175557" y="36960"/>
                    <a:pt x="1175557" y="50301"/>
                  </a:cubicBezTo>
                  <a:lnTo>
                    <a:pt x="1175557" y="110734"/>
                  </a:lnTo>
                  <a:cubicBezTo>
                    <a:pt x="1175557" y="124075"/>
                    <a:pt x="1170258" y="136869"/>
                    <a:pt x="1160824" y="146302"/>
                  </a:cubicBezTo>
                  <a:cubicBezTo>
                    <a:pt x="1151391" y="155736"/>
                    <a:pt x="1138597" y="161035"/>
                    <a:pt x="1125256" y="161035"/>
                  </a:cubicBezTo>
                  <a:lnTo>
                    <a:pt x="50301" y="161035"/>
                  </a:lnTo>
                  <a:cubicBezTo>
                    <a:pt x="36960" y="161035"/>
                    <a:pt x="24166" y="155736"/>
                    <a:pt x="14733" y="146302"/>
                  </a:cubicBezTo>
                  <a:cubicBezTo>
                    <a:pt x="5300" y="136869"/>
                    <a:pt x="0" y="124075"/>
                    <a:pt x="0" y="110734"/>
                  </a:cubicBezTo>
                  <a:lnTo>
                    <a:pt x="0" y="50301"/>
                  </a:lnTo>
                  <a:cubicBezTo>
                    <a:pt x="0" y="36960"/>
                    <a:pt x="5300" y="24166"/>
                    <a:pt x="14733" y="14733"/>
                  </a:cubicBezTo>
                  <a:cubicBezTo>
                    <a:pt x="24166" y="5300"/>
                    <a:pt x="36960" y="0"/>
                    <a:pt x="50301" y="0"/>
                  </a:cubicBezTo>
                  <a:close/>
                </a:path>
              </a:pathLst>
            </a:custGeom>
            <a:solidFill>
              <a:srgbClr val="4A7EBB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175557" cy="18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043993" y="85649"/>
            <a:ext cx="2031733" cy="1005657"/>
          </a:xfrm>
          <a:custGeom>
            <a:avLst/>
            <a:gdLst/>
            <a:ahLst/>
            <a:cxnLst/>
            <a:rect r="r" b="b" t="t" l="l"/>
            <a:pathLst>
              <a:path h="1005657" w="2031733">
                <a:moveTo>
                  <a:pt x="0" y="0"/>
                </a:moveTo>
                <a:lnTo>
                  <a:pt x="2031733" y="0"/>
                </a:lnTo>
                <a:lnTo>
                  <a:pt x="2031733" y="1005657"/>
                </a:lnTo>
                <a:lnTo>
                  <a:pt x="0" y="1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86634" y="1887703"/>
            <a:ext cx="7789092" cy="6579013"/>
          </a:xfrm>
          <a:custGeom>
            <a:avLst/>
            <a:gdLst/>
            <a:ahLst/>
            <a:cxnLst/>
            <a:rect r="r" b="b" t="t" l="l"/>
            <a:pathLst>
              <a:path h="6579013" w="7789092">
                <a:moveTo>
                  <a:pt x="0" y="0"/>
                </a:moveTo>
                <a:lnTo>
                  <a:pt x="7789092" y="0"/>
                </a:lnTo>
                <a:lnTo>
                  <a:pt x="7789092" y="6579013"/>
                </a:lnTo>
                <a:lnTo>
                  <a:pt x="0" y="657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6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4584" y="2563481"/>
            <a:ext cx="9647398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Replaces traditi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onal fixed-frequency sonar with a dynamically adaptive SDR-style hardware payload.</a:t>
            </a:r>
          </a:p>
          <a:p>
            <a:pPr algn="l">
              <a:lnSpc>
                <a:spcPts val="3119"/>
              </a:lnSpc>
            </a:pP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Ingests real-time environmental data (turbidity, depth, temperature) to mathematically synthesize and output optimized physical acoustic waveforms on the fly.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-344336" y="5076251"/>
            <a:ext cx="613526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 Value P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ropositions: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344336" y="1758362"/>
            <a:ext cx="501542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roblem Resolution: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8146" y="5668631"/>
            <a:ext cx="9907192" cy="378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353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Modular 3-Mode Architecture: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Automatically transitions between LFM Chirp, Geometric Sweep, and Barker-13 Phase-Coded pulses based on water conditions.</a:t>
            </a:r>
          </a:p>
          <a:p>
            <a:pPr algn="l" marL="561336" indent="-280668" lvl="1">
              <a:lnSpc>
                <a:spcPts val="3353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Strict Resolution Lock: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Bandwidth is dynamically corrected via real-time acoustic velocity calculations to guarantee a 2 cm mapping resolution.</a:t>
            </a:r>
          </a:p>
          <a:p>
            <a:pPr algn="l" marL="561336" indent="-280668" lvl="1">
              <a:lnSpc>
                <a:spcPts val="3353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Zero-Latency Execution: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Hardware-level Ping-Pong buffering and Direct Memory Access (DMA) ensure continuous transmission without stalling the CPU.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46040" y="1230451"/>
            <a:ext cx="32738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 Diagram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23114" y="1230451"/>
            <a:ext cx="2241757" cy="129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6495" y="-71438"/>
            <a:ext cx="8911771" cy="1714500"/>
            <a:chOff x="0" y="0"/>
            <a:chExt cx="11882362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236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882362">
                  <a:moveTo>
                    <a:pt x="0" y="0"/>
                  </a:moveTo>
                  <a:lnTo>
                    <a:pt x="11882362" y="0"/>
                  </a:lnTo>
                  <a:lnTo>
                    <a:pt x="1188236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8469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882362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roject Poseidon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5588000" y="1334706"/>
            <a:ext cx="0" cy="81998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65348" y="1147617"/>
            <a:ext cx="0" cy="83845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5721350" y="1704409"/>
            <a:ext cx="6301123" cy="743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Processing &amp; Synthesis: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Microcontroller computes f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center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and T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pulse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using Q15 math and LUTs, applying Blackman/Tukey digital wind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ows to a 100-sample buffer.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  <a:p>
            <a:pPr algn="ctr" marL="561336" indent="-280668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Power-Optimized Delivery: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CPU completely offloads transmission to the DMA and hardware timers (200 kHz ZOH), minimizing active power draw.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  <a:p>
            <a:pPr algn="ctr" marL="561336" indent="-280668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Analog Hardware: </a:t>
            </a:r>
            <a:r>
              <a:rPr lang="en-US" sz="2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CD4051 MUX dynamically routes the signal through specialized LT1058 Sallen-Key low-pass filters. The LT1122 and BJT output stage drives a distortion-free 24V peak-to-peak signal into an LC matched transducer.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96555" y="2337723"/>
            <a:ext cx="5147043" cy="6191448"/>
          </a:xfrm>
          <a:custGeom>
            <a:avLst/>
            <a:gdLst/>
            <a:ahLst/>
            <a:cxnLst/>
            <a:rect r="r" b="b" t="t" l="l"/>
            <a:pathLst>
              <a:path h="6191448" w="5147043">
                <a:moveTo>
                  <a:pt x="0" y="0"/>
                </a:moveTo>
                <a:lnTo>
                  <a:pt x="5147043" y="0"/>
                </a:lnTo>
                <a:lnTo>
                  <a:pt x="5147043" y="6191448"/>
                </a:lnTo>
                <a:lnTo>
                  <a:pt x="0" y="6191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7" r="-1160" b="-457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300318" y="2206308"/>
            <a:ext cx="5879364" cy="6856730"/>
            <a:chOff x="0" y="0"/>
            <a:chExt cx="1209746" cy="1410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9746" cy="1410850"/>
            </a:xfrm>
            <a:custGeom>
              <a:avLst/>
              <a:gdLst/>
              <a:ahLst/>
              <a:cxnLst/>
              <a:rect r="r" b="b" t="t" l="l"/>
              <a:pathLst>
                <a:path h="1410850" w="1209746">
                  <a:moveTo>
                    <a:pt x="25719" y="0"/>
                  </a:moveTo>
                  <a:lnTo>
                    <a:pt x="1184027" y="0"/>
                  </a:lnTo>
                  <a:cubicBezTo>
                    <a:pt x="1198231" y="0"/>
                    <a:pt x="1209746" y="11515"/>
                    <a:pt x="1209746" y="25719"/>
                  </a:cubicBezTo>
                  <a:lnTo>
                    <a:pt x="1209746" y="1385131"/>
                  </a:lnTo>
                  <a:cubicBezTo>
                    <a:pt x="1209746" y="1399335"/>
                    <a:pt x="1198231" y="1410850"/>
                    <a:pt x="1184027" y="1410850"/>
                  </a:cubicBezTo>
                  <a:lnTo>
                    <a:pt x="25719" y="1410850"/>
                  </a:lnTo>
                  <a:cubicBezTo>
                    <a:pt x="11515" y="1410850"/>
                    <a:pt x="0" y="1399335"/>
                    <a:pt x="0" y="1385131"/>
                  </a:cubicBezTo>
                  <a:lnTo>
                    <a:pt x="0" y="25719"/>
                  </a:lnTo>
                  <a:cubicBezTo>
                    <a:pt x="0" y="11515"/>
                    <a:pt x="11515" y="0"/>
                    <a:pt x="25719" y="0"/>
                  </a:cubicBezTo>
                  <a:close/>
                </a:path>
              </a:pathLst>
            </a:custGeom>
            <a:solidFill>
              <a:srgbClr val="C1D1E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209746" cy="142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300318" y="2391266"/>
            <a:ext cx="5879364" cy="6392673"/>
          </a:xfrm>
          <a:custGeom>
            <a:avLst/>
            <a:gdLst/>
            <a:ahLst/>
            <a:cxnLst/>
            <a:rect r="r" b="b" t="t" l="l"/>
            <a:pathLst>
              <a:path h="6392673" w="5879364">
                <a:moveTo>
                  <a:pt x="0" y="0"/>
                </a:moveTo>
                <a:lnTo>
                  <a:pt x="5879364" y="0"/>
                </a:lnTo>
                <a:lnTo>
                  <a:pt x="5879364" y="6392674"/>
                </a:lnTo>
                <a:lnTo>
                  <a:pt x="0" y="6392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29" r="0" b="-2347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4667" y="1624012"/>
            <a:ext cx="537081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</a:t>
            </a:r>
            <a:r>
              <a:rPr lang="en-US" b="true" sz="33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rmware State Machine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12923" y="1541493"/>
            <a:ext cx="465415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Anal</a:t>
            </a:r>
            <a:r>
              <a:rPr lang="en-US" b="true" sz="33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og Signal Pipeline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950088" y="207371"/>
            <a:ext cx="2031733" cy="1005657"/>
          </a:xfrm>
          <a:custGeom>
            <a:avLst/>
            <a:gdLst/>
            <a:ahLst/>
            <a:cxnLst/>
            <a:rect r="r" b="b" t="t" l="l"/>
            <a:pathLst>
              <a:path h="1005657" w="2031733">
                <a:moveTo>
                  <a:pt x="0" y="0"/>
                </a:moveTo>
                <a:lnTo>
                  <a:pt x="2031733" y="0"/>
                </a:lnTo>
                <a:lnTo>
                  <a:pt x="2031733" y="1005657"/>
                </a:lnTo>
                <a:lnTo>
                  <a:pt x="0" y="1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roject Poseidon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972300" y="1334750"/>
            <a:ext cx="0" cy="80538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7324725" y="2795650"/>
          <a:ext cx="10750850" cy="6161356"/>
        </p:xfrm>
        <a:graphic>
          <a:graphicData uri="http://schemas.openxmlformats.org/drawingml/2006/table">
            <a:tbl>
              <a:tblPr/>
              <a:tblGrid>
                <a:gridCol w="5375425"/>
                <a:gridCol w="5375425"/>
              </a:tblGrid>
              <a:tr h="2073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Buffer Underrun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: DMA finishes before next array is ready.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Map DMA EOF to instantly swap Ping-Pong buffer pointers at the hardware level.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9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Math Bottlenecks: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Float calculations stall CPU.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Utilize fixed-point Q15 math and pre-calculated SRAM Lookup Tables (LUTs).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8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Slew Rate Limits: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Op-Amps fail to track Barker-13 phase inversions.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Pair high-slew Op-Amps (10V/mus) with the Tukey digital window to protect chips.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8" id="18"/>
          <p:cNvSpPr/>
          <p:nvPr/>
        </p:nvSpPr>
        <p:spPr>
          <a:xfrm flipH="false" flipV="false" rot="0">
            <a:off x="7324725" y="1868386"/>
            <a:ext cx="4961989" cy="701940"/>
          </a:xfrm>
          <a:custGeom>
            <a:avLst/>
            <a:gdLst/>
            <a:ahLst/>
            <a:cxnLst/>
            <a:rect r="r" b="b" t="t" l="l"/>
            <a:pathLst>
              <a:path h="701940" w="4961989">
                <a:moveTo>
                  <a:pt x="0" y="0"/>
                </a:moveTo>
                <a:lnTo>
                  <a:pt x="4961989" y="0"/>
                </a:lnTo>
                <a:lnTo>
                  <a:pt x="4961989" y="701940"/>
                </a:lnTo>
                <a:lnTo>
                  <a:pt x="0" y="70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1905" y="1624012"/>
            <a:ext cx="6377970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Feasibility: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CPU computes velocity and frequency boundaries well within standard micr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ocontroller limits. Ping-Pong buffering allows background calculation without stalling active DMA transmission.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Execution Timing: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Hardware timers strictly enforce the 5 microsec Zero-Order Hold (ZOH) interval, decoupling physical acoustic timing from software overhead.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Stability: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Mathematical hysteresis and Exponential Moving Average (EMA) filtering on the ADC ensure stable logic transitions, preventing chatter around thresholds (e.g., 2.4V Turbidity).</a:t>
            </a:r>
          </a:p>
          <a:p>
            <a:pPr algn="l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759005" y="1868386"/>
            <a:ext cx="4961989" cy="701940"/>
          </a:xfrm>
          <a:custGeom>
            <a:avLst/>
            <a:gdLst/>
            <a:ahLst/>
            <a:cxnLst/>
            <a:rect r="r" b="b" t="t" l="l"/>
            <a:pathLst>
              <a:path h="701940" w="4961989">
                <a:moveTo>
                  <a:pt x="0" y="0"/>
                </a:moveTo>
                <a:lnTo>
                  <a:pt x="4961990" y="0"/>
                </a:lnTo>
                <a:lnTo>
                  <a:pt x="4961990" y="701940"/>
                </a:lnTo>
                <a:lnTo>
                  <a:pt x="0" y="70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60968" y="1995519"/>
            <a:ext cx="328950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Risk / Challenges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043993" y="85649"/>
            <a:ext cx="2031733" cy="1005657"/>
          </a:xfrm>
          <a:custGeom>
            <a:avLst/>
            <a:gdLst/>
            <a:ahLst/>
            <a:cxnLst/>
            <a:rect r="r" b="b" t="t" l="l"/>
            <a:pathLst>
              <a:path h="1005657" w="2031733">
                <a:moveTo>
                  <a:pt x="0" y="0"/>
                </a:moveTo>
                <a:lnTo>
                  <a:pt x="2031733" y="0"/>
                </a:lnTo>
                <a:lnTo>
                  <a:pt x="2031733" y="1005657"/>
                </a:lnTo>
                <a:lnTo>
                  <a:pt x="0" y="1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595248" y="1995519"/>
            <a:ext cx="328950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Solutions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3797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roject Poseidon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6972300" y="1028700"/>
            <a:ext cx="19050" cy="8229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7019925" y="1117169"/>
            <a:ext cx="11055801" cy="8402687"/>
          </a:xfrm>
          <a:custGeom>
            <a:avLst/>
            <a:gdLst/>
            <a:ahLst/>
            <a:cxnLst/>
            <a:rect r="r" b="b" t="t" l="l"/>
            <a:pathLst>
              <a:path h="8402687" w="11055801">
                <a:moveTo>
                  <a:pt x="0" y="0"/>
                </a:moveTo>
                <a:lnTo>
                  <a:pt x="11055801" y="0"/>
                </a:lnTo>
                <a:lnTo>
                  <a:pt x="11055801" y="8402687"/>
                </a:lnTo>
                <a:lnTo>
                  <a:pt x="0" y="8402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86" r="0" b="-398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0" y="1352550"/>
            <a:ext cx="6942667" cy="756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Solves the Sonar Tradeoff: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Dynamic frequency shift (100–500 kHz) adapts autonomously t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turbidity while mathematical bandwidth correction locks resolution at 2 cm.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Drastic Power Reduction: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CPU deep-sleeps for 15ms every 20ms cycle, yielding a 75% duty-cycle savings. Future Dynamic Voltage Scaling (9V to 24V) projects a 40% battery life extension.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Hardware Longevity: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Two-stage analog/digital filtering eliminates sidelobes, and LC impedance matching cancels capacitive reactance, maximizing acoustic output and protecting the transducer.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043993" y="85649"/>
            <a:ext cx="2031733" cy="1005657"/>
          </a:xfrm>
          <a:custGeom>
            <a:avLst/>
            <a:gdLst/>
            <a:ahLst/>
            <a:cxnLst/>
            <a:rect r="r" b="b" t="t" l="l"/>
            <a:pathLst>
              <a:path h="1005657" w="2031733">
                <a:moveTo>
                  <a:pt x="0" y="0"/>
                </a:moveTo>
                <a:lnTo>
                  <a:pt x="2031733" y="0"/>
                </a:lnTo>
                <a:lnTo>
                  <a:pt x="2031733" y="1005657"/>
                </a:lnTo>
                <a:lnTo>
                  <a:pt x="0" y="1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roject Poseidon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043993" y="85649"/>
            <a:ext cx="2031733" cy="1005657"/>
          </a:xfrm>
          <a:custGeom>
            <a:avLst/>
            <a:gdLst/>
            <a:ahLst/>
            <a:cxnLst/>
            <a:rect r="r" b="b" t="t" l="l"/>
            <a:pathLst>
              <a:path h="1005657" w="2031733">
                <a:moveTo>
                  <a:pt x="0" y="0"/>
                </a:moveTo>
                <a:lnTo>
                  <a:pt x="2031733" y="0"/>
                </a:lnTo>
                <a:lnTo>
                  <a:pt x="2031733" y="1005657"/>
                </a:lnTo>
                <a:lnTo>
                  <a:pt x="0" y="1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655995" y="1687490"/>
            <a:ext cx="8882387" cy="1434666"/>
          </a:xfrm>
          <a:custGeom>
            <a:avLst/>
            <a:gdLst/>
            <a:ahLst/>
            <a:cxnLst/>
            <a:rect r="r" b="b" t="t" l="l"/>
            <a:pathLst>
              <a:path h="1434666" w="8882387">
                <a:moveTo>
                  <a:pt x="0" y="0"/>
                </a:moveTo>
                <a:lnTo>
                  <a:pt x="8882387" y="0"/>
                </a:lnTo>
                <a:lnTo>
                  <a:pt x="8882387" y="1434666"/>
                </a:lnTo>
                <a:lnTo>
                  <a:pt x="0" y="1434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190" r="0" b="-67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55995" y="3411597"/>
            <a:ext cx="8882387" cy="1972733"/>
          </a:xfrm>
          <a:custGeom>
            <a:avLst/>
            <a:gdLst/>
            <a:ahLst/>
            <a:cxnLst/>
            <a:rect r="r" b="b" t="t" l="l"/>
            <a:pathLst>
              <a:path h="1972733" w="8882387">
                <a:moveTo>
                  <a:pt x="0" y="0"/>
                </a:moveTo>
                <a:lnTo>
                  <a:pt x="8882387" y="0"/>
                </a:lnTo>
                <a:lnTo>
                  <a:pt x="8882387" y="1972733"/>
                </a:lnTo>
                <a:lnTo>
                  <a:pt x="0" y="1972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247" r="0" b="-7137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61906" y="2479373"/>
            <a:ext cx="6699354" cy="2904957"/>
          </a:xfrm>
          <a:custGeom>
            <a:avLst/>
            <a:gdLst/>
            <a:ahLst/>
            <a:cxnLst/>
            <a:rect r="r" b="b" t="t" l="l"/>
            <a:pathLst>
              <a:path h="2904957" w="6699354">
                <a:moveTo>
                  <a:pt x="0" y="0"/>
                </a:moveTo>
                <a:lnTo>
                  <a:pt x="6699354" y="0"/>
                </a:lnTo>
                <a:lnTo>
                  <a:pt x="6699354" y="2904957"/>
                </a:lnTo>
                <a:lnTo>
                  <a:pt x="0" y="29049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111" r="0" b="-20592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260886" y="5777105"/>
            <a:ext cx="9339717" cy="3334647"/>
            <a:chOff x="0" y="0"/>
            <a:chExt cx="2459843" cy="878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59843" cy="878261"/>
            </a:xfrm>
            <a:custGeom>
              <a:avLst/>
              <a:gdLst/>
              <a:ahLst/>
              <a:cxnLst/>
              <a:rect r="r" b="b" t="t" l="l"/>
              <a:pathLst>
                <a:path h="878261" w="2459843">
                  <a:moveTo>
                    <a:pt x="58025" y="0"/>
                  </a:moveTo>
                  <a:lnTo>
                    <a:pt x="2401818" y="0"/>
                  </a:lnTo>
                  <a:cubicBezTo>
                    <a:pt x="2417207" y="0"/>
                    <a:pt x="2431966" y="6113"/>
                    <a:pt x="2442848" y="16995"/>
                  </a:cubicBezTo>
                  <a:cubicBezTo>
                    <a:pt x="2453730" y="27877"/>
                    <a:pt x="2459843" y="42636"/>
                    <a:pt x="2459843" y="58025"/>
                  </a:cubicBezTo>
                  <a:lnTo>
                    <a:pt x="2459843" y="820236"/>
                  </a:lnTo>
                  <a:cubicBezTo>
                    <a:pt x="2459843" y="835625"/>
                    <a:pt x="2453730" y="850384"/>
                    <a:pt x="2442848" y="861266"/>
                  </a:cubicBezTo>
                  <a:cubicBezTo>
                    <a:pt x="2431966" y="872148"/>
                    <a:pt x="2417207" y="878261"/>
                    <a:pt x="2401818" y="878261"/>
                  </a:cubicBezTo>
                  <a:lnTo>
                    <a:pt x="58025" y="878261"/>
                  </a:lnTo>
                  <a:cubicBezTo>
                    <a:pt x="42636" y="878261"/>
                    <a:pt x="27877" y="872148"/>
                    <a:pt x="16995" y="861266"/>
                  </a:cubicBezTo>
                  <a:cubicBezTo>
                    <a:pt x="6113" y="850384"/>
                    <a:pt x="0" y="835625"/>
                    <a:pt x="0" y="820236"/>
                  </a:cubicBezTo>
                  <a:lnTo>
                    <a:pt x="0" y="58025"/>
                  </a:lnTo>
                  <a:cubicBezTo>
                    <a:pt x="0" y="42636"/>
                    <a:pt x="6113" y="27877"/>
                    <a:pt x="16995" y="16995"/>
                  </a:cubicBezTo>
                  <a:cubicBezTo>
                    <a:pt x="27877" y="6113"/>
                    <a:pt x="42636" y="0"/>
                    <a:pt x="58025" y="0"/>
                  </a:cubicBezTo>
                  <a:close/>
                </a:path>
              </a:pathLst>
            </a:custGeom>
            <a:solidFill>
              <a:srgbClr val="C8D1D9">
                <a:alpha val="64706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459843" cy="897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56679" y="1630340"/>
            <a:ext cx="26358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2530" y="5578326"/>
            <a:ext cx="6958106" cy="342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4"/>
              </a:lnSpc>
            </a:pP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Voltage Scaling: </a:t>
            </a:r>
            <a:r>
              <a:rPr lang="en-US" sz="19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iterations will utilize a digitally controlled DC-DC boost converter tied to a GPIO to dynamically adjust the final amplifier's power supply rail based on environmental conditions, optimizing efficiency.</a:t>
            </a:r>
          </a:p>
          <a:p>
            <a:pPr algn="ctr">
              <a:lnSpc>
                <a:spcPts val="2724"/>
              </a:lnSpc>
            </a:pP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Ping Pong Buffering: </a:t>
            </a:r>
            <a:r>
              <a:rPr lang="en-US" sz="19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Optimization technique that utilizes two buffers to minimize CPU active time and latency issues. Linking them with DMA can remove need of CPU’s manual swap.</a:t>
            </a:r>
          </a:p>
          <a:p>
            <a:pPr algn="ctr">
              <a:lnSpc>
                <a:spcPts val="272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655995" y="5927255"/>
            <a:ext cx="8944608" cy="289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References-</a:t>
            </a:r>
          </a:p>
          <a:p>
            <a:pPr algn="l" marL="474299" indent="-237150" lvl="1">
              <a:lnSpc>
                <a:spcPts val="3075"/>
              </a:lnSpc>
              <a:buAutoNum type="arabicPeriod" startAt="1"/>
            </a:pPr>
            <a:r>
              <a:rPr lang="en-US" sz="219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www.mdpi.com/1424-8220/12/6/6837"/>
              </a:rPr>
              <a:t>An Ultra-Low Power and Flexible Acoustic Modem Design to Develop Energy-Efficient Underwater Sensor Networks</a:t>
            </a:r>
          </a:p>
          <a:p>
            <a:pPr algn="l" marL="474299" indent="-237150" lvl="1">
              <a:lnSpc>
                <a:spcPts val="3075"/>
              </a:lnSpc>
              <a:buAutoNum type="arabicPeriod" startAt="1"/>
            </a:pPr>
            <a:r>
              <a:rPr lang="en-US" sz="219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jmstt.ntou.edu.tw/journal/vol12/iss3/3/"/>
              </a:rPr>
              <a:t>Lump Circuit Modeling and Matching Consideration on Acoustical Telemetry Transmitters</a:t>
            </a:r>
          </a:p>
          <a:p>
            <a:pPr algn="l" marL="474299" indent="-237150" lvl="1">
              <a:lnSpc>
                <a:spcPts val="3075"/>
              </a:lnSpc>
              <a:buAutoNum type="arabicPeriod" startAt="1"/>
            </a:pPr>
            <a:r>
              <a:rPr lang="en-US" sz="219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ti.com/lit/pdf/sloa024"/>
              </a:rPr>
              <a:t>“</a:t>
            </a:r>
            <a:r>
              <a:rPr lang="en-US" sz="219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ti.com/lit/pdf/sloa024"/>
              </a:rPr>
              <a:t>Analysis of the Sallen-Key Architecture" (SLOA024) - Texas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DAHTlM8WbMA</dc:identifier>
  <dcterms:modified xsi:type="dcterms:W3CDTF">2011-08-01T06:04:30Z</dcterms:modified>
  <cp:revision>1</cp:revision>
  <dc:title>SIH2025-IDEA-Presentation-Format.pptx</dc:title>
</cp:coreProperties>
</file>